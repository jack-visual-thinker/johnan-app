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</a:p>
        </p:txBody>
      </p:sp>
      <p:pic>
        <p:nvPicPr>
          <p:cNvPr id="3" name="Picture 2" descr="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120640" cy="26911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ウェブサイト公開先の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検討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DE3EE"/>
                </a:solidFill>
              </a:defRPr>
            </a:pPr>
            <a:r>
              <a:t>AI開発サイト（johnan-app）を</a:t>
            </a:r>
          </a:p>
          <a:p>
            <a:pPr>
              <a:defRPr sz="2000" b="0">
                <a:solidFill>
                  <a:srgbClr val="DDE3EE"/>
                </a:solidFill>
              </a:defRPr>
            </a:pPr>
            <a:r>
              <a:t>安全・低コストに公開するために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38020"/>
                </a:solidFill>
              </a:defRPr>
            </a:pPr>
            <a:r>
              <a:t>2026年10月27日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343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DE3EE"/>
                </a:solidFill>
              </a:defRPr>
            </a:pPr>
            <a:r>
              <a:t>対象サイト：johnan-app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結論：第一候補は Cloudflare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368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1005840"/>
          </a:xfrm>
          <a:prstGeom prst="round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Cloudflare（Workers 静的アセット）で公開し、更新が必要になったら記事管理（CMS）を後から足す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566160" cy="7315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すぐ公開できる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3566160" cy="15544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F2A44"/>
                </a:solidFill>
              </a:defRPr>
            </a:pPr>
            <a:r>
              <a:t>Cloudflare向けの設定が</a:t>
            </a:r>
          </a:p>
          <a:p>
            <a:pPr algn="ctr">
              <a:defRPr sz="1600" b="0">
                <a:solidFill>
                  <a:srgbClr val="1F2A44"/>
                </a:solidFill>
              </a:defRPr>
            </a:pPr>
            <a:r>
              <a:t>サイトにすでに入っている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743200"/>
            <a:ext cx="3566160" cy="7315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PHPのリスクがない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3474720"/>
            <a:ext cx="3566160" cy="15544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F2A44"/>
                </a:solidFill>
              </a:defRPr>
            </a:pPr>
            <a:r>
              <a:t>公開側でPHPが動かず</a:t>
            </a:r>
          </a:p>
          <a:p>
            <a:pPr algn="ctr">
              <a:defRPr sz="1600" b="0">
                <a:solidFill>
                  <a:srgbClr val="1F2A44"/>
                </a:solidFill>
              </a:defRPr>
            </a:pPr>
            <a:r>
              <a:t>プラグイン攻撃を受けにくい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2743200"/>
            <a:ext cx="3566160" cy="7315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ほぼ無料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3474720"/>
            <a:ext cx="3566160" cy="15544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1F2A44"/>
                </a:solidFill>
              </a:defRPr>
            </a:pPr>
            <a:r>
              <a:t>0円〜月5ドル程度</a:t>
            </a:r>
          </a:p>
          <a:p>
            <a:pPr algn="ctr">
              <a:defRPr sz="1600" b="0">
                <a:solidFill>
                  <a:srgbClr val="1F2A44"/>
                </a:solidFill>
              </a:defRPr>
            </a:pPr>
            <a:r>
              <a:t>転送量の課金もなし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368"/>
                </a:solidFill>
              </a:defRPr>
            </a:pPr>
            <a:r>
              <a:t>※ 主な数値は公式資料とChatGPTでのクロスチェック（2回）で確認済み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なぜ見直すのか：WordPressのセキュリティ状況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368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51760" cy="12801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11,334件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2651760" cy="13716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A44"/>
                </a:solidFill>
              </a:defRPr>
            </a:pPr>
            <a:r>
              <a:t>2025年の新しい脆弱性</a:t>
            </a:r>
          </a:p>
          <a:p>
            <a:pPr algn="ctr">
              <a:defRPr sz="1500" b="0">
                <a:solidFill>
                  <a:srgbClr val="1F2A44"/>
                </a:solidFill>
              </a:defRPr>
            </a:pPr>
            <a:r>
              <a:t>（前年比 +42%）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651760" cy="12801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91%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743200"/>
            <a:ext cx="2651760" cy="13716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A44"/>
                </a:solidFill>
              </a:defRPr>
            </a:pPr>
            <a:r>
              <a:t>プラグインが原因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651760" cy="12801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2651760" cy="13716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A44"/>
                </a:solidFill>
              </a:defRPr>
            </a:pPr>
            <a:r>
              <a:t>公開時点で</a:t>
            </a:r>
          </a:p>
          <a:p>
            <a:pPr algn="ctr">
              <a:defRPr sz="1500" b="0">
                <a:solidFill>
                  <a:srgbClr val="1F2A44"/>
                </a:solidFill>
              </a:defRPr>
            </a:pPr>
            <a:r>
              <a:t>修正版がない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63040"/>
            <a:ext cx="26517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約5時間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2743200"/>
            <a:ext cx="2651760" cy="13716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1F2A44"/>
                </a:solidFill>
              </a:defRPr>
            </a:pPr>
            <a:r>
              <a:t>攻撃が集中する脆弱性で</a:t>
            </a:r>
          </a:p>
          <a:p>
            <a:pPr algn="ctr">
              <a:defRPr sz="1500" b="0">
                <a:solidFill>
                  <a:srgbClr val="1F2A44"/>
                </a:solidFill>
              </a:defRPr>
            </a:pPr>
            <a:r>
              <a:t>最初の悪用の試みまで</a:t>
            </a:r>
          </a:p>
          <a:p>
            <a:pPr algn="ctr">
              <a:defRPr sz="1500" b="0">
                <a:solidFill>
                  <a:srgbClr val="1F2A44"/>
                </a:solidFill>
              </a:defRPr>
            </a:pPr>
            <a:r>
              <a:t>（中央値）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A44"/>
                </a:solidFill>
              </a:defRPr>
            </a:pPr>
            <a:r>
              <a:t>→ 危険なのはWordPress本体よりも「プラグイン」と「更新の遅れ」</a:t>
            </a:r>
          </a:p>
          <a:p>
            <a:pPr>
              <a:defRPr sz="1800" b="1">
                <a:solidFill>
                  <a:srgbClr val="1F2A44"/>
                </a:solidFill>
              </a:defRPr>
            </a:pPr>
            <a:r>
              <a:t>→ 公開する側からPHPをなくせば、このリスクを構造的に減らせる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368"/>
                </a:solidFill>
              </a:defRPr>
            </a:pPr>
            <a:r>
              <a:t>出典：Patchstack「State of WordPress Security in 2026」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仕組みの違い（図解）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368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62828"/>
                </a:solidFill>
              </a:defRPr>
            </a:pPr>
            <a:r>
              <a:t>A. WordPress（今のやり方）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463040" cy="914400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閲覧者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2103120"/>
            <a:ext cx="640080" cy="36576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645920"/>
            <a:ext cx="2743200" cy="12801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レンタルサーバー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PHP + プラグイン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+ データベース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0175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62828"/>
                </a:solidFill>
              </a:defRPr>
            </a:pPr>
            <a:r>
              <a:t>⚠ 攻撃の入口になる部分が</a:t>
            </a:r>
          </a:p>
          <a:p>
            <a:pPr>
              <a:defRPr sz="1400" b="0">
                <a:solidFill>
                  <a:srgbClr val="C62828"/>
                </a:solidFill>
              </a:defRPr>
            </a:pPr>
            <a:r>
              <a:t>常に公開されている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B. Cloudflare（推奨）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1463040" cy="914400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閲覧者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2103120"/>
            <a:ext cx="640080" cy="36576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1645920"/>
            <a:ext cx="3017520" cy="1280160"/>
          </a:xfrm>
          <a:prstGeom prst="round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Cloudflare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（世界中から配信）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HTML・画像のみ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017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7D32"/>
                </a:solidFill>
              </a:defRPr>
            </a:pPr>
            <a:r>
              <a:t>✓ PHPもDBもない</a:t>
            </a:r>
          </a:p>
          <a:p>
            <a:pPr>
              <a:defRPr sz="1400" b="0">
                <a:solidFill>
                  <a:srgbClr val="2E7D32"/>
                </a:solidFill>
              </a:defRPr>
            </a:pPr>
            <a:r>
              <a:t>✓ DDoS対策・WAF・SSLが標準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A44"/>
                </a:solidFill>
              </a:defRPr>
            </a:pPr>
            <a:r>
              <a:t>Bの公開までの流れ（AIを使った開発と相性が良い）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228600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AIで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コード修正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80360" y="5120640"/>
            <a:ext cx="502920" cy="36576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74720" y="4754880"/>
            <a:ext cx="228600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GitHubに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アップロード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5120640"/>
            <a:ext cx="502920" cy="36576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4754880"/>
            <a:ext cx="228600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Cloudflareに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自動で公開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32520" y="5120640"/>
            <a:ext cx="502920" cy="365760"/>
          </a:xfrm>
          <a:prstGeom prst="rightArrow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0" y="4754880"/>
            <a:ext cx="228600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サイトに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反映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選択肢の比較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368"/>
                </a:solidFill>
              </a:defRPr>
            </a:pPr>
            <a: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62701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WordPress（既存）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Cloudflare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Vercel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Netlify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F2A44"/>
                          </a:solidFill>
                        </a:defRPr>
                      </a:pPr>
                      <a:r>
                        <a:t>セキュリティ（PHPのリスク）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F2A44"/>
                          </a:solidFill>
                        </a:defRPr>
                      </a:pPr>
                      <a:r>
                        <a:t>月額費用（会社のサイト）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◯ 今の契約のまま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 0円〜5ドル</a:t>
                      </a:r>
                    </a:p>
                  </a:txBody>
                  <a:tcPr>
                    <a:solidFill>
                      <a:srgbClr val="FFF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△ 20ドル/人〜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◯ 無料あり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F2A44"/>
                          </a:solidFill>
                        </a:defRPr>
                      </a:pPr>
                      <a:r>
                        <a:t>担当者による更新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△ 別の仕組みが必要</a:t>
                      </a:r>
                    </a:p>
                  </a:txBody>
                  <a:tcPr>
                    <a:solidFill>
                      <a:srgbClr val="FFF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F2A44"/>
                          </a:solidFill>
                        </a:defRPr>
                      </a:pPr>
                      <a:r>
                        <a:t>AIを使った開発との相性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F2A44"/>
                          </a:solidFill>
                        </a:defRPr>
                      </a:pPr>
                      <a:r>
                        <a:t>表示の速さ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△〜◯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◯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F2A44"/>
                          </a:solidFill>
                        </a:defRPr>
                      </a:pPr>
                      <a:r>
                        <a:t>今のサイトからの移行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△ パスの修正が必要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 設定済み</a:t>
                      </a:r>
                    </a:p>
                  </a:txBody>
                  <a:tcPr>
                    <a:solidFill>
                      <a:srgbClr val="FFF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◎ 設定済み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F2A44"/>
                          </a:solidFill>
                        </a:defRPr>
                      </a:pPr>
                      <a:r>
                        <a:t>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368"/>
                </a:solidFill>
              </a:defRPr>
            </a:pPr>
            <a:r>
              <a:t>Vercelの無料プランは商用利用不可　／　Netlifyはポイント制（本番公開1回＝15ポイント）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優先順位と今後の進め方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368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F6368"/>
                </a:solidFill>
              </a:defRPr>
            </a:pPr>
            <a:r>
              <a:t>判断の軸：① セキュリティ対策の手間が少ないこと（最優先）　② 費用　③ 更新のしやすさ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56032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Cloudflareで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試しに公開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2560320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A44"/>
                </a:solidFill>
              </a:defRPr>
            </a:pPr>
            <a:r>
              <a:t>仮URLで表示確認</a:t>
            </a:r>
          </a:p>
          <a:p>
            <a:pPr algn="ctr">
              <a:defRPr sz="1400" b="0">
                <a:solidFill>
                  <a:srgbClr val="1F2A44"/>
                </a:solidFill>
              </a:defRPr>
            </a:pPr>
            <a:r>
              <a:t>目安：1日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3063240"/>
            <a:ext cx="274320" cy="365760"/>
          </a:xfrm>
          <a:prstGeom prst="rightArrow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29000" y="1828800"/>
            <a:ext cx="640080" cy="640080"/>
          </a:xfrm>
          <a:prstGeom prst="ellipse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651760"/>
            <a:ext cx="256032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ドメインを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つなぐ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3840480"/>
            <a:ext cx="2560320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A44"/>
                </a:solidFill>
              </a:defRPr>
            </a:pPr>
            <a:r>
              <a:t>メールへの影響を確認</a:t>
            </a:r>
          </a:p>
          <a:p>
            <a:pPr algn="ctr">
              <a:defRPr sz="1400" b="0">
                <a:solidFill>
                  <a:srgbClr val="1F2A44"/>
                </a:solidFill>
              </a:defRPr>
            </a:pPr>
            <a:r>
              <a:t>目安：数日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35040" y="3063240"/>
            <a:ext cx="274320" cy="365760"/>
          </a:xfrm>
          <a:prstGeom prst="rightArrow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59" y="1828800"/>
            <a:ext cx="640080" cy="640080"/>
          </a:xfrm>
          <a:prstGeom prst="ellipse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651760"/>
            <a:ext cx="256032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社内で共有・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方針決定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3840480"/>
            <a:ext cx="2560320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A44"/>
                </a:solidFill>
              </a:defRPr>
            </a:pPr>
            <a:r>
              <a:t>このレポートを使う</a:t>
            </a:r>
          </a:p>
          <a:p>
            <a:pPr algn="ctr">
              <a:defRPr sz="1400" b="0">
                <a:solidFill>
                  <a:srgbClr val="1F2A44"/>
                </a:solidFill>
              </a:defRPr>
            </a:pPr>
            <a:r>
              <a:t>目安：1週間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15400" y="3063240"/>
            <a:ext cx="274320" cy="365760"/>
          </a:xfrm>
          <a:prstGeom prst="rightArrow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89719" y="1828800"/>
            <a:ext cx="640080" cy="640080"/>
          </a:xfrm>
          <a:prstGeom prst="ellipse">
            <a:avLst/>
          </a:prstGeom>
          <a:solidFill>
            <a:srgbClr val="F3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2651760"/>
            <a:ext cx="256032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更新の仕組み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（必要なら）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19" y="3840480"/>
            <a:ext cx="2560320" cy="109728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F2A44"/>
                </a:solidFill>
              </a:defRPr>
            </a:pPr>
            <a:r>
              <a:t>microCMSなど</a:t>
            </a:r>
          </a:p>
          <a:p>
            <a:pPr algn="ctr">
              <a:defRPr sz="1400" b="0">
                <a:solidFill>
                  <a:srgbClr val="1F2A44"/>
                </a:solidFill>
              </a:defRPr>
            </a:pPr>
            <a:r>
              <a:t>必要になったら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A44"/>
                </a:solidFill>
              </a:defRPr>
            </a:pPr>
            <a:r>
              <a:t>並行して：既存のWordPressを残すなら、プラグインを整理し、自動更新とWAFを有効にする</a:t>
            </a:r>
          </a:p>
          <a:p>
            <a:pPr>
              <a:defRPr sz="1400" b="0">
                <a:solidFill>
                  <a:srgbClr val="1F2A44"/>
                </a:solidFill>
              </a:defRPr>
            </a:pPr>
            <a:r>
              <a:t>確認したいこと：レンタルサーバーの会社名／ドメインの管理元／フォームの要否／更新の担当と頻度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